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67D0E-DA8E-41BF-9641-57588C4DB4CA}" v="142" dt="2026-04-27T14:05:30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 Analytics Canada" userId="a21b5379e5ee1d23" providerId="LiveId" clId="{B6F778F0-58BE-4706-9FED-5BA1AD3C9411}"/>
    <pc:docChg chg="undo custSel addSld delSld modSld addMainMaster delMainMaster modMainMaster">
      <pc:chgData name="HR Analytics Canada" userId="a21b5379e5ee1d23" providerId="LiveId" clId="{B6F778F0-58BE-4706-9FED-5BA1AD3C9411}" dt="2026-04-27T14:05:30.625" v="4322" actId="20577"/>
      <pc:docMkLst>
        <pc:docMk/>
      </pc:docMkLst>
      <pc:sldChg chg="addSp delSp modSp new mod setBg modClrScheme addAnim chgLayout">
        <pc:chgData name="HR Analytics Canada" userId="a21b5379e5ee1d23" providerId="LiveId" clId="{B6F778F0-58BE-4706-9FED-5BA1AD3C9411}" dt="2026-04-21T13:36:20.787" v="4115" actId="1076"/>
        <pc:sldMkLst>
          <pc:docMk/>
          <pc:sldMk cId="869741466" sldId="256"/>
        </pc:sldMkLst>
        <pc:spChg chg="mod">
          <ac:chgData name="HR Analytics Canada" userId="a21b5379e5ee1d23" providerId="LiveId" clId="{B6F778F0-58BE-4706-9FED-5BA1AD3C9411}" dt="2026-04-21T13:36:20.787" v="4115" actId="1076"/>
          <ac:spMkLst>
            <pc:docMk/>
            <pc:sldMk cId="869741466" sldId="256"/>
            <ac:spMk id="2" creationId="{DD4EEF61-1FCA-EDDB-5B98-247131CB701E}"/>
          </ac:spMkLst>
        </pc:spChg>
        <pc:spChg chg="add">
          <ac:chgData name="HR Analytics Canada" userId="a21b5379e5ee1d23" providerId="LiveId" clId="{B6F778F0-58BE-4706-9FED-5BA1AD3C9411}" dt="2026-04-18T06:29:47.236" v="2575" actId="26606"/>
          <ac:spMkLst>
            <pc:docMk/>
            <pc:sldMk cId="869741466" sldId="256"/>
            <ac:spMk id="38" creationId="{C7D023E4-8DE1-436E-9847-ED6A4B4B04FD}"/>
          </ac:spMkLst>
        </pc:spChg>
        <pc:grpChg chg="add">
          <ac:chgData name="HR Analytics Canada" userId="a21b5379e5ee1d23" providerId="LiveId" clId="{B6F778F0-58BE-4706-9FED-5BA1AD3C9411}" dt="2026-04-18T06:29:47.236" v="2575" actId="26606"/>
          <ac:grpSpMkLst>
            <pc:docMk/>
            <pc:sldMk cId="869741466" sldId="256"/>
            <ac:grpSpMk id="44" creationId="{A47AAF5E-1692-48C9-98FB-6432BF0BC4F7}"/>
          </ac:grpSpMkLst>
        </pc:grpChg>
      </pc:sldChg>
      <pc:sldChg chg="addSp delSp modSp new mod setBg modClrScheme addAnim chgLayout">
        <pc:chgData name="HR Analytics Canada" userId="a21b5379e5ee1d23" providerId="LiveId" clId="{B6F778F0-58BE-4706-9FED-5BA1AD3C9411}" dt="2026-04-27T14:05:30.625" v="4322" actId="20577"/>
        <pc:sldMkLst>
          <pc:docMk/>
          <pc:sldMk cId="1773746315" sldId="258"/>
        </pc:sldMkLst>
        <pc:spChg chg="add mod">
          <ac:chgData name="HR Analytics Canada" userId="a21b5379e5ee1d23" providerId="LiveId" clId="{B6F778F0-58BE-4706-9FED-5BA1AD3C9411}" dt="2026-04-27T14:05:30.625" v="4322" actId="20577"/>
          <ac:spMkLst>
            <pc:docMk/>
            <pc:sldMk cId="1773746315" sldId="258"/>
            <ac:spMk id="2" creationId="{6730E6C9-E133-643B-705F-7885E73C6C7F}"/>
          </ac:spMkLst>
        </pc:spChg>
        <pc:spChg chg="add">
          <ac:chgData name="HR Analytics Canada" userId="a21b5379e5ee1d23" providerId="LiveId" clId="{B6F778F0-58BE-4706-9FED-5BA1AD3C9411}" dt="2026-04-18T06:30:05.060" v="2576" actId="26606"/>
          <ac:spMkLst>
            <pc:docMk/>
            <pc:sldMk cId="1773746315" sldId="258"/>
            <ac:spMk id="48" creationId="{C7D023E4-8DE1-436E-9847-ED6A4B4B04FD}"/>
          </ac:spMkLst>
        </pc:spChg>
        <pc:grpChg chg="add">
          <ac:chgData name="HR Analytics Canada" userId="a21b5379e5ee1d23" providerId="LiveId" clId="{B6F778F0-58BE-4706-9FED-5BA1AD3C9411}" dt="2026-04-18T06:30:05.060" v="2576" actId="26606"/>
          <ac:grpSpMkLst>
            <pc:docMk/>
            <pc:sldMk cId="1773746315" sldId="258"/>
            <ac:grpSpMk id="54" creationId="{D691EE10-D5F3-48FA-BE55-F24A0BE59EF6}"/>
          </ac:grpSpMkLst>
        </pc:grpChg>
      </pc:sldChg>
      <pc:sldChg chg="addSp delSp modSp new mod setBg modClrScheme chgLayout">
        <pc:chgData name="HR Analytics Canada" userId="a21b5379e5ee1d23" providerId="LiveId" clId="{B6F778F0-58BE-4706-9FED-5BA1AD3C9411}" dt="2026-04-24T19:01:46.729" v="4309" actId="113"/>
        <pc:sldMkLst>
          <pc:docMk/>
          <pc:sldMk cId="256791138" sldId="259"/>
        </pc:sldMkLst>
        <pc:spChg chg="add mod">
          <ac:chgData name="HR Analytics Canada" userId="a21b5379e5ee1d23" providerId="LiveId" clId="{B6F778F0-58BE-4706-9FED-5BA1AD3C9411}" dt="2026-04-18T17:57:39.907" v="3855" actId="20577"/>
          <ac:spMkLst>
            <pc:docMk/>
            <pc:sldMk cId="256791138" sldId="259"/>
            <ac:spMk id="2" creationId="{183C5981-23F0-0ED5-0C97-159A9E50D689}"/>
          </ac:spMkLst>
        </pc:spChg>
        <pc:spChg chg="add mod">
          <ac:chgData name="HR Analytics Canada" userId="a21b5379e5ee1d23" providerId="LiveId" clId="{B6F778F0-58BE-4706-9FED-5BA1AD3C9411}" dt="2026-04-18T06:16:11.885" v="2421" actId="1076"/>
          <ac:spMkLst>
            <pc:docMk/>
            <pc:sldMk cId="256791138" sldId="259"/>
            <ac:spMk id="7" creationId="{A282EACC-9E2B-C9BB-30DE-0591D5347C0F}"/>
          </ac:spMkLst>
        </pc:spChg>
        <pc:spChg chg="add">
          <ac:chgData name="HR Analytics Canada" userId="a21b5379e5ee1d23" providerId="LiveId" clId="{B6F778F0-58BE-4706-9FED-5BA1AD3C9411}" dt="2026-04-17T15:38:27.346" v="802" actId="26606"/>
          <ac:spMkLst>
            <pc:docMk/>
            <pc:sldMk cId="256791138" sldId="259"/>
            <ac:spMk id="15" creationId="{715B9334-3E03-4CA7-3616-4D3C9DC2C7DE}"/>
          </ac:spMkLst>
        </pc:spChg>
        <pc:graphicFrameChg chg="add mod modGraphic">
          <ac:chgData name="HR Analytics Canada" userId="a21b5379e5ee1d23" providerId="LiveId" clId="{B6F778F0-58BE-4706-9FED-5BA1AD3C9411}" dt="2026-04-24T19:01:46.729" v="4309" actId="113"/>
          <ac:graphicFrameMkLst>
            <pc:docMk/>
            <pc:sldMk cId="256791138" sldId="259"/>
            <ac:graphicFrameMk id="5" creationId="{5EC08D12-2C57-4E14-8213-8876581A54A0}"/>
          </ac:graphicFrameMkLst>
        </pc:graphicFrameChg>
      </pc:sldChg>
      <pc:sldChg chg="addSp delSp modSp add mod setBg delDesignElem">
        <pc:chgData name="HR Analytics Canada" userId="a21b5379e5ee1d23" providerId="LiveId" clId="{B6F778F0-58BE-4706-9FED-5BA1AD3C9411}" dt="2026-04-21T13:34:02.860" v="4080" actId="403"/>
        <pc:sldMkLst>
          <pc:docMk/>
          <pc:sldMk cId="1836537049" sldId="260"/>
        </pc:sldMkLst>
        <pc:spChg chg="mod">
          <ac:chgData name="HR Analytics Canada" userId="a21b5379e5ee1d23" providerId="LiveId" clId="{B6F778F0-58BE-4706-9FED-5BA1AD3C9411}" dt="2026-04-18T17:48:32.681" v="3661" actId="1076"/>
          <ac:spMkLst>
            <pc:docMk/>
            <pc:sldMk cId="1836537049" sldId="260"/>
            <ac:spMk id="2" creationId="{F852E3E5-5247-B497-7932-BD9C034D8478}"/>
          </ac:spMkLst>
        </pc:spChg>
        <pc:graphicFrameChg chg="mod modGraphic">
          <ac:chgData name="HR Analytics Canada" userId="a21b5379e5ee1d23" providerId="LiveId" clId="{B6F778F0-58BE-4706-9FED-5BA1AD3C9411}" dt="2026-04-21T13:34:02.860" v="4080" actId="403"/>
          <ac:graphicFrameMkLst>
            <pc:docMk/>
            <pc:sldMk cId="1836537049" sldId="260"/>
            <ac:graphicFrameMk id="5" creationId="{5CD0E91C-38DA-2E0B-35AA-5B69B4234C75}"/>
          </ac:graphicFrameMkLst>
        </pc:graphicFrameChg>
      </pc:sldChg>
      <pc:sldMasterChg chg="add del addSldLayout delSldLayout modSldLayout">
        <pc:chgData name="HR Analytics Canada" userId="a21b5379e5ee1d23" providerId="LiveId" clId="{B6F778F0-58BE-4706-9FED-5BA1AD3C9411}" dt="2026-04-17T15:09:19.629" v="11" actId="26606"/>
        <pc:sldMasterMkLst>
          <pc:docMk/>
          <pc:sldMasterMk cId="3001066483" sldId="2147483648"/>
        </pc:sldMasterMkLst>
        <pc:sldLayoutChg chg="add del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1011573813" sldId="2147483649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4121347543" sldId="2147483650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3534446327" sldId="2147483651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1545694431" sldId="2147483652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3608888551" sldId="2147483653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912959968" sldId="2147483654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2001542395" sldId="2147483655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1399356555" sldId="2147483656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4025054174" sldId="2147483657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2717387544" sldId="2147483658"/>
          </pc:sldLayoutMkLst>
        </pc:sldLayoutChg>
        <pc:sldLayoutChg chg="add del replId">
          <pc:chgData name="HR Analytics Canada" userId="a21b5379e5ee1d23" providerId="LiveId" clId="{B6F778F0-58BE-4706-9FED-5BA1AD3C9411}" dt="2026-04-17T15:09:19.629" v="11" actId="26606"/>
          <pc:sldLayoutMkLst>
            <pc:docMk/>
            <pc:sldMasterMk cId="3001066483" sldId="2147483648"/>
            <pc:sldLayoutMk cId="999412288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BED0F-151D-DE20-0B6A-84DFA6B94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C8B62-4B85-073F-A8EF-BB3DC0D6B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7C553-E9A2-ECC9-D8B5-CCC38764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AB178-95F0-0EDC-668F-F7BBF115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940C6-84A5-986D-2A3E-083260A3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157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FA69-0B51-7961-B867-DF18A2E0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04BD-2432-462F-6D98-CD06C106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193C4-CF26-98CB-498F-704223D6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843B5-F5DF-57D6-B2F9-6C9DB365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27D98-6056-75DD-2858-35F2DB3D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34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5A97-29B8-2FA9-8189-E76B91BC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9DCA2-4D4E-129E-06C4-684134A18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E60FB-5349-DB2D-D9EB-AB1F0B06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F3936-C3C4-F2AA-1892-D5B32D52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9639-A7CD-C48F-21CF-BD06E7FB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444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1ECA-2686-B981-2BE1-DDBBA2AC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6580-7ECB-EDB7-6F03-D1B978D79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E6F8C-7F60-E9FC-728D-F26275502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9C0A6-DA5E-A800-A926-004FF39C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FA060-AE5C-DD73-B156-9A705DC7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C99-101C-4DC1-EA22-67706264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94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6296-3CB4-1349-6F9C-7BA76CDA3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40034-7408-1CA3-FE00-098F0CD7D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B7904-317C-EF74-6DA0-C08FB8E68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00820-00CE-17E5-FD69-BCA58F87B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43C76-5CC6-506A-1CF4-BE1581BBB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36F18-80F5-A4B7-6FE1-A9B668ED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BA379-1F7A-386A-12D7-F4895ACC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08D6E2-7402-1447-7603-57F7882E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888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876F-7DA7-5CC2-8491-C68ADAAA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5F699-ACDF-3167-8206-B91652E1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67D81-DCD5-3B4E-4104-D8E94A6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BEAE7-451E-B37C-5744-14A2363A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95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88EC9-C100-641D-2CAA-B97C14CF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A3A2D-FD64-027F-7407-29C3605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AD00C-124D-C406-BEC1-DDFF84C5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154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AE56-4AD9-DBFA-F789-B673EE23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FF98-4F2F-0918-3276-EF7C6BE66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C1304-E064-782B-C6A4-8DFB60E70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974B-D983-A712-36FE-DB0F228C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7145F-8043-E1FB-6349-A832D356C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64B52-05DB-8788-70AC-D1C54306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935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F4F8-BD30-99BF-34E1-18B91F4A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7174D-504D-967F-B678-C8BF9C455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E8CC6-FB40-031F-E372-BCFCE2487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62B49-E814-C92C-0891-35E6A182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AC910-5A11-E105-DD3F-75C34BF2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67CA-6411-DD8C-394E-823C351A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50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2247-CB87-7956-ED79-8A952577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8FA65-91A6-6835-BD0E-EC987D4D7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A94E-61BE-B63C-6B81-7FCC51B2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1DE88-49F5-2DE8-9E9E-604167B9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A8CE1-EA39-0101-A4B3-AA237E0F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738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332E9-3278-E65C-5C5B-002A223EB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6C783-4807-0D7D-CE71-16B3AAB0A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B72A8-6075-3B4F-3C0B-A4D4D21E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C0CFC-8841-D3CA-A888-82FDD7E8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EFE0-A0FF-3E07-72A6-174CAB13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941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B4980-4985-5573-AC7F-3D5200E4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DFD30-CE80-E40E-FF19-D205DD642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A9E19-74EA-84BC-4C6D-5C5E19016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C693E-4C90-41E7-B3A2-C0D8FB3DBC31}" type="datetimeFigureOut">
              <a:rPr lang="en-CA" smtClean="0"/>
              <a:t>2026-04-27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699DD-B238-CFB8-6086-CD911C201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9E20C-55C2-B066-9FCA-88DF7E141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B94ED-ED88-4A2A-AB4C-ED01856FEE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10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4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4EEF61-1FCA-EDDB-5B98-247131CB7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273" y="1299958"/>
            <a:ext cx="10558405" cy="3439484"/>
          </a:xfrm>
        </p:spPr>
        <p:txBody>
          <a:bodyPr anchor="b">
            <a:normAutofit/>
          </a:bodyPr>
          <a:lstStyle/>
          <a:p>
            <a:r>
              <a:rPr lang="en-US" sz="16600" b="1" dirty="0" err="1">
                <a:solidFill>
                  <a:schemeClr val="bg1"/>
                </a:solidFill>
              </a:rPr>
              <a:t>Yollow</a:t>
            </a:r>
            <a:endParaRPr lang="en-CA" sz="1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74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51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55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30E6C9-E133-643B-705F-7885E73C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44" y="841664"/>
            <a:ext cx="992983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 next-gen property search engine</a:t>
            </a:r>
            <a:br>
              <a:rPr lang="en-US" sz="4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4100" b="1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Our goal is to create a frictionless booking experience for </a:t>
            </a:r>
            <a:r>
              <a:rPr lang="en-US" altLang="zh-CN" sz="4000" dirty="0">
                <a:solidFill>
                  <a:schemeClr val="bg1"/>
                </a:solidFill>
              </a:rPr>
              <a:t>home seekers</a:t>
            </a:r>
            <a:r>
              <a:rPr lang="en-US" sz="4000" dirty="0">
                <a:solidFill>
                  <a:schemeClr val="bg1"/>
                </a:solidFill>
              </a:rPr>
              <a:t> while simultaneously solving the lead-acquisition struggle for realtors. We bridge the gap between instant demand and immediate professional availability.</a:t>
            </a:r>
            <a:br>
              <a:rPr lang="en-CA" sz="4000" dirty="0"/>
            </a:br>
            <a:endParaRPr lang="en-US" sz="41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7374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258E-EFF8-DC7A-5344-5D1C6999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E3E5-5247-B497-7932-BD9C034D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57" y="135438"/>
            <a:ext cx="9539195" cy="631450"/>
          </a:xfrm>
        </p:spPr>
        <p:txBody>
          <a:bodyPr>
            <a:normAutofit fontScale="90000"/>
          </a:bodyPr>
          <a:lstStyle/>
          <a:p>
            <a:r>
              <a:rPr lang="en-CA" dirty="0"/>
              <a:t>Pain Point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D0E91C-38DA-2E0B-35AA-5B69B4234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24286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370957" y="789879"/>
          <a:ext cx="11614566" cy="368438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702101">
                  <a:extLst>
                    <a:ext uri="{9D8B030D-6E8A-4147-A177-3AD203B41FA5}">
                      <a16:colId xmlns:a16="http://schemas.microsoft.com/office/drawing/2014/main" val="4241953396"/>
                    </a:ext>
                  </a:extLst>
                </a:gridCol>
                <a:gridCol w="10912465">
                  <a:extLst>
                    <a:ext uri="{9D8B030D-6E8A-4147-A177-3AD203B41FA5}">
                      <a16:colId xmlns:a16="http://schemas.microsoft.com/office/drawing/2014/main" val="1746314532"/>
                    </a:ext>
                  </a:extLst>
                </a:gridCol>
              </a:tblGrid>
              <a:tr h="1374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Leads are the lifeblood of real estate, but they are increasingly controlled by major platforms (i.e.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Housesigma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, Condos.ca). Between the dominance of big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PropTech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and the high upfront costs of traditional lead gen, the average realtor is struggling to compete. We’re leveling the playing field.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65605"/>
                  </a:ext>
                </a:extLst>
              </a:tr>
              <a:tr h="5902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There is a significant trust deficit between users and realtors. Consumers often feel pressured by sales-driven motives, creating a barrier to authentic engagement during the early stages of property search.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97223"/>
                  </a:ext>
                </a:extLst>
              </a:tr>
              <a:tr h="11648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3200" b="1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Standard </a:t>
                      </a:r>
                      <a:r>
                        <a:rPr lang="en-US" sz="2000" dirty="0" err="1"/>
                        <a:t>PropTech</a:t>
                      </a:r>
                      <a:r>
                        <a:rPr lang="en-US" sz="2000" dirty="0"/>
                        <a:t> platforms (realtor.ca) are too slow. When a user requests a showing, it can take days to get a response. Why? Because lead distribution is inefficient, and distant agents often ignore requests they can’t service immediately. We are eliminating that lag.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9096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5A4070-1C4F-267A-AED1-CC78D3495C94}"/>
              </a:ext>
            </a:extLst>
          </p:cNvPr>
          <p:cNvSpPr txBox="1"/>
          <p:nvPr/>
        </p:nvSpPr>
        <p:spPr>
          <a:xfrm>
            <a:off x="107312" y="6858000"/>
            <a:ext cx="8908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cap="none" spc="0" dirty="0">
                <a:solidFill>
                  <a:schemeClr val="tx1"/>
                </a:solidFill>
              </a:rPr>
              <a:t>*</a:t>
            </a:r>
            <a:r>
              <a:rPr lang="en-US" sz="1100" i="1" cap="none" spc="0" dirty="0">
                <a:solidFill>
                  <a:schemeClr val="tx1"/>
                </a:solidFill>
              </a:rPr>
              <a:t>Later</a:t>
            </a:r>
            <a:r>
              <a:rPr lang="en-US" sz="1100" b="1" i="1" cap="none" spc="0" dirty="0">
                <a:solidFill>
                  <a:schemeClr val="tx1"/>
                </a:solidFill>
              </a:rPr>
              <a:t> </a:t>
            </a:r>
            <a:r>
              <a:rPr lang="en-US" sz="1100" b="0" i="1" cap="none" spc="0" dirty="0">
                <a:solidFill>
                  <a:schemeClr val="tx1"/>
                </a:solidFill>
              </a:rPr>
              <a:t>a pre-screen form is sent to confirm credit score and income info before a showing (for rentals). </a:t>
            </a:r>
            <a:endParaRPr lang="en-CA" sz="1100" i="1" dirty="0"/>
          </a:p>
        </p:txBody>
      </p:sp>
    </p:spTree>
    <p:extLst>
      <p:ext uri="{BB962C8B-B14F-4D97-AF65-F5344CB8AC3E}">
        <p14:creationId xmlns:p14="http://schemas.microsoft.com/office/powerpoint/2010/main" val="183653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C5981-23F0-0ED5-0C97-159A9E50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57" y="1"/>
            <a:ext cx="9539195" cy="631450"/>
          </a:xfrm>
        </p:spPr>
        <p:txBody>
          <a:bodyPr>
            <a:normAutofit fontScale="90000"/>
          </a:bodyPr>
          <a:lstStyle/>
          <a:p>
            <a:r>
              <a:rPr lang="en-CA" dirty="0"/>
              <a:t>The RoadMap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C08D12-2C57-4E14-8213-8876581A5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53523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370957" y="533735"/>
          <a:ext cx="11614566" cy="624179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702101">
                  <a:extLst>
                    <a:ext uri="{9D8B030D-6E8A-4147-A177-3AD203B41FA5}">
                      <a16:colId xmlns:a16="http://schemas.microsoft.com/office/drawing/2014/main" val="4241953396"/>
                    </a:ext>
                  </a:extLst>
                </a:gridCol>
                <a:gridCol w="10912465">
                  <a:extLst>
                    <a:ext uri="{9D8B030D-6E8A-4147-A177-3AD203B41FA5}">
                      <a16:colId xmlns:a16="http://schemas.microsoft.com/office/drawing/2014/main" val="1746314532"/>
                    </a:ext>
                  </a:extLst>
                </a:gridCol>
              </a:tblGrid>
              <a:tr h="1224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1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Allow buyers to self-serve by booking directly (integrating with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BrokerBay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– realtor internal booking system). A local realtor is assigned and confirms in minutes to cut the back-and-forth. Realtors can communicate with clients and reassign leads just like Uber.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Software Integration: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Explore Realm integration for booking and reassigning.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65605"/>
                  </a:ext>
                </a:extLst>
              </a:tr>
              <a:tr h="6288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1" cap="none" spc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UI optimized for map-first search property discovery. B</a:t>
                      </a:r>
                      <a:r>
                        <a:rPr lang="en-US" altLang="zh-CN" sz="1800" dirty="0"/>
                        <a:t>enchmark Product </a:t>
                      </a:r>
                      <a:r>
                        <a:rPr lang="en-US" sz="1800" dirty="0"/>
                        <a:t>– rew.ca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97223"/>
                  </a:ext>
                </a:extLst>
              </a:tr>
              <a:tr h="689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1" cap="none" spc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Realtors join for free with profiles pre-set via Realm. They easily set their service area and send listings to clients to book tours for free. Free leads for realtors until they close; we take a 5%-10% share only upon closing</a:t>
                      </a:r>
                      <a:r>
                        <a:rPr lang="en-US" sz="1800" b="0"/>
                        <a:t>. </a:t>
                      </a:r>
                      <a:endParaRPr lang="en-US" sz="18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909665"/>
                  </a:ext>
                </a:extLst>
              </a:tr>
              <a:tr h="1151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1" cap="none" spc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Growth Strategy</a:t>
                      </a:r>
                    </a:p>
                    <a:p>
                      <a:r>
                        <a:rPr lang="en-US" sz="1800" b="1" dirty="0"/>
                        <a:t>Email Campaigns:</a:t>
                      </a:r>
                      <a:r>
                        <a:rPr lang="en-US" sz="1800" dirty="0"/>
                        <a:t> Reach 70,000 Toronto realtors to join for free leads (Cold Email Campagne).</a:t>
                      </a:r>
                    </a:p>
                    <a:p>
                      <a:r>
                        <a:rPr lang="en-US" sz="1800" b="1" dirty="0"/>
                        <a:t>K</a:t>
                      </a:r>
                      <a:r>
                        <a:rPr lang="en-US" altLang="zh-CN" sz="1800" b="1" dirty="0"/>
                        <a:t>ijiji Campaigns</a:t>
                      </a:r>
                      <a:r>
                        <a:rPr lang="en-CA" altLang="zh-CN" sz="1800" b="1" dirty="0"/>
                        <a:t>: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dirty="0"/>
                        <a:t>distribute listings on Kijiji and redirect users to this app to book a showing directly</a:t>
                      </a:r>
                      <a:endParaRPr lang="en-US" sz="1800" dirty="0"/>
                    </a:p>
                    <a:p>
                      <a:r>
                        <a:rPr lang="en-US" sz="1800" b="1" dirty="0"/>
                        <a:t>Micro-Influencers:</a:t>
                      </a:r>
                      <a:r>
                        <a:rPr lang="en-US" sz="1800" dirty="0"/>
                        <a:t> Partner with users/students for a share of sales. </a:t>
                      </a:r>
                      <a:r>
                        <a:rPr lang="en-US" sz="1800" i="1" dirty="0"/>
                        <a:t>Example: A student books 3 showings instantly and finds a home in one day.</a:t>
                      </a:r>
                    </a:p>
                    <a:p>
                      <a:r>
                        <a:rPr lang="en-US" sz="1800" b="1" i="1" dirty="0"/>
                        <a:t>Cross Marketing with </a:t>
                      </a:r>
                      <a:r>
                        <a:rPr lang="en-US" sz="1800" b="1" i="1" dirty="0" err="1"/>
                        <a:t>PropTrust</a:t>
                      </a:r>
                      <a:endParaRPr lang="en-US" sz="1800" b="1" dirty="0"/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50479"/>
                  </a:ext>
                </a:extLst>
              </a:tr>
              <a:tr h="488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1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AI Features</a:t>
                      </a:r>
                    </a:p>
                    <a:p>
                      <a:r>
                        <a:rPr lang="en-US" sz="1800" b="1" dirty="0"/>
                        <a:t>Smart Recs:</a:t>
                      </a:r>
                      <a:r>
                        <a:rPr lang="en-US" sz="1800" dirty="0"/>
                        <a:t> AI finds and recommends 2 similar listings for every booking.</a:t>
                      </a:r>
                    </a:p>
                    <a:p>
                      <a:r>
                        <a:rPr lang="en-US" sz="1800" b="1" dirty="0"/>
                        <a:t>Auto-Follow-up:</a:t>
                      </a:r>
                      <a:r>
                        <a:rPr lang="en-US" sz="1800" dirty="0"/>
                        <a:t> AI sends reminders and follows up with users 3x after a showing.</a:t>
                      </a:r>
                    </a:p>
                  </a:txBody>
                  <a:tcPr marL="115163" marR="115163" marT="115163" marB="1151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6505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282EACC-9E2B-C9BB-30DE-0591D5347C0F}"/>
              </a:ext>
            </a:extLst>
          </p:cNvPr>
          <p:cNvSpPr txBox="1"/>
          <p:nvPr/>
        </p:nvSpPr>
        <p:spPr>
          <a:xfrm>
            <a:off x="107312" y="6858000"/>
            <a:ext cx="8908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cap="none" spc="0" dirty="0">
                <a:solidFill>
                  <a:schemeClr val="tx1"/>
                </a:solidFill>
              </a:rPr>
              <a:t>*</a:t>
            </a:r>
            <a:r>
              <a:rPr lang="en-US" sz="1100" i="1" cap="none" spc="0" dirty="0">
                <a:solidFill>
                  <a:schemeClr val="tx1"/>
                </a:solidFill>
              </a:rPr>
              <a:t>Later</a:t>
            </a:r>
            <a:r>
              <a:rPr lang="en-US" sz="1100" b="1" i="1" cap="none" spc="0" dirty="0">
                <a:solidFill>
                  <a:schemeClr val="tx1"/>
                </a:solidFill>
              </a:rPr>
              <a:t> </a:t>
            </a:r>
            <a:r>
              <a:rPr lang="en-US" sz="1100" b="0" i="1" cap="none" spc="0" dirty="0">
                <a:solidFill>
                  <a:schemeClr val="tx1"/>
                </a:solidFill>
              </a:rPr>
              <a:t>a pre-screen form is sent to confirm credit score and income info before a showing (for rentals). </a:t>
            </a:r>
            <a:endParaRPr lang="en-CA" sz="1100" i="1" dirty="0"/>
          </a:p>
        </p:txBody>
      </p:sp>
    </p:spTree>
    <p:extLst>
      <p:ext uri="{BB962C8B-B14F-4D97-AF65-F5344CB8AC3E}">
        <p14:creationId xmlns:p14="http://schemas.microsoft.com/office/powerpoint/2010/main" val="25679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456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Yollow</vt:lpstr>
      <vt:lpstr>A next-gen property search engine  Our goal is to create a frictionless booking experience for home seekers while simultaneously solving the lead-acquisition struggle for realtors. We bridge the gap between instant demand and immediate professional availability. </vt:lpstr>
      <vt:lpstr>Pain Point</vt:lpstr>
      <vt:lpstr>The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 Analytics Canada</dc:creator>
  <cp:lastModifiedBy>HR Analytics Canada</cp:lastModifiedBy>
  <cp:revision>1</cp:revision>
  <dcterms:created xsi:type="dcterms:W3CDTF">2026-04-17T15:08:54Z</dcterms:created>
  <dcterms:modified xsi:type="dcterms:W3CDTF">2026-04-27T14:05:37Z</dcterms:modified>
</cp:coreProperties>
</file>